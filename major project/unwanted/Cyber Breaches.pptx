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6/13/2024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6/13/2024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6/13/2024</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6/13/2024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30310" y="1957589"/>
            <a:ext cx="8345510" cy="2434107"/>
          </a:xfrm>
        </p:spPr>
        <p:txBody>
          <a:bodyPr>
            <a:normAutofit/>
          </a:bodyPr>
          <a:lstStyle/>
          <a:p>
            <a:pPr algn="just"/>
            <a:r>
              <a:rPr lang="en-US" sz="3200" b="1" dirty="0" err="1"/>
              <a:t>CyberGuard:Advanced</a:t>
            </a:r>
            <a:r>
              <a:rPr lang="en-US" sz="3200" b="1" dirty="0"/>
              <a:t> Machine Learning Model for Anticipating and Preventing Cyber Hacking Breaches Using Random Forest and Multi-layer Perceptron</a:t>
            </a:r>
            <a:endParaRPr lang="en-IN" sz="3200" b="1" dirty="0"/>
          </a:p>
        </p:txBody>
      </p:sp>
    </p:spTree>
    <p:extLst>
      <p:ext uri="{BB962C8B-B14F-4D97-AF65-F5344CB8AC3E}">
        <p14:creationId xmlns:p14="http://schemas.microsoft.com/office/powerpoint/2010/main" val="3187336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Abstract</a:t>
            </a:r>
            <a:endParaRPr lang="en-IN" dirty="0"/>
          </a:p>
        </p:txBody>
      </p:sp>
      <p:sp>
        <p:nvSpPr>
          <p:cNvPr id="3" name="Content Placeholder 2"/>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"Cyber-Guard" presents an innovative machine learning framework designed to proactively anticipate and mitigate cyber-hacking breaches. Leveraging the capabilities of Random Forest and Multi-Layer Perceptron (MLP) algorithms, Cyber-Guard employs advanced pattern recognition and classification techniques. Through the synergy of Random Forest's ensemble learning and MLP's deep neural network architecture, Cyber-Guard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data patterns to detect and prevent potential cyber threats. This abstract highlights Cyber-Guard's adaptability. continuous </a:t>
            </a:r>
            <a:r>
              <a:rPr lang="en-IN" dirty="0" err="1">
                <a:latin typeface="Times New Roman" panose="02020603050405020304" pitchFamily="18" charset="0"/>
                <a:cs typeface="Times New Roman" panose="02020603050405020304" pitchFamily="18" charset="0"/>
              </a:rPr>
              <a:t>leaming</a:t>
            </a:r>
            <a:r>
              <a:rPr lang="en-IN" dirty="0">
                <a:latin typeface="Times New Roman" panose="02020603050405020304" pitchFamily="18" charset="0"/>
                <a:cs typeface="Times New Roman" panose="02020603050405020304" pitchFamily="18" charset="0"/>
              </a:rPr>
              <a:t>, and robust </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 mechanisms, ensuring the protection of critical systems and sensitive data against evolving cyber threats</a:t>
            </a:r>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Keywords</a:t>
            </a:r>
            <a:r>
              <a:rPr lang="en-IN" dirty="0">
                <a:latin typeface="Times New Roman" panose="02020603050405020304" pitchFamily="18" charset="0"/>
                <a:cs typeface="Times New Roman" panose="02020603050405020304" pitchFamily="18" charset="0"/>
              </a:rPr>
              <a:t>: Machine learning framework, cyber-hacking breaches, Random Forest, Multi Layer Perceptron, pattern recognition, cyber threats, data protection</a:t>
            </a:r>
          </a:p>
        </p:txBody>
      </p:sp>
    </p:spTree>
    <p:extLst>
      <p:ext uri="{BB962C8B-B14F-4D97-AF65-F5344CB8AC3E}">
        <p14:creationId xmlns:p14="http://schemas.microsoft.com/office/powerpoint/2010/main" val="940917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"Cyber-Guard" is an innovative machine learning framework designed to anticipate and mitigate cyber-hacking breaches. By leveraging the capabilities of Random Forest and Multi-Layer Perceptron (MLP) algorithms, it utilizes advanced pattern recognition and classification techniques to detect and prevent potential threats. The synergy between Random Forest's ensemble learning and MLP's deep neural network architecture allows Cyber-Guard to analyze complex data patterns accurately. Its adaptability and continuous learning ensure robust defense mechanisms against evolving cyber threats, making it a crucial tool for protecting critical systems and sensitive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098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Existed Method</a:t>
            </a:r>
            <a:endParaRPr lang="en-IN" dirty="0"/>
          </a:p>
        </p:txBody>
      </p:sp>
      <p:sp>
        <p:nvSpPr>
          <p:cNvPr id="3" name="Content Placeholder 2"/>
          <p:cNvSpPr>
            <a:spLocks noGrp="1"/>
          </p:cNvSpPr>
          <p:nvPr>
            <p:ph idx="1"/>
          </p:nvPr>
        </p:nvSpPr>
        <p:spPr>
          <a:xfrm>
            <a:off x="677334" y="1558345"/>
            <a:ext cx="8596668" cy="4483018"/>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Signature-Based Detection: This method relies on known patterns of malicious activity, known as signatures, to identify threats. Antivirus programs and intrusion detection systems commonly use this approach. While effective against known threats, it struggles with new, unknown threats (zero-day attacks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Behavioral Analysis: This method involves monitoring the behavior </a:t>
            </a:r>
            <a:r>
              <a:rPr lang="en-US" dirty="0" smtClean="0">
                <a:latin typeface="Times New Roman" panose="02020603050405020304" pitchFamily="18" charset="0"/>
                <a:cs typeface="Times New Roman" panose="02020603050405020304" pitchFamily="18" charset="0"/>
              </a:rPr>
              <a:t>of applications </a:t>
            </a:r>
            <a:r>
              <a:rPr lang="en-US" dirty="0">
                <a:latin typeface="Times New Roman" panose="02020603050405020304" pitchFamily="18" charset="0"/>
                <a:cs typeface="Times New Roman" panose="02020603050405020304" pitchFamily="18" charset="0"/>
              </a:rPr>
              <a:t>and systems to identify unusual activity that could indicate a threat. It </a:t>
            </a:r>
            <a:r>
              <a:rPr lang="en-US" dirty="0" smtClean="0">
                <a:latin typeface="Times New Roman" panose="02020603050405020304" pitchFamily="18" charset="0"/>
                <a:cs typeface="Times New Roman" panose="02020603050405020304" pitchFamily="18" charset="0"/>
              </a:rPr>
              <a:t>is effective </a:t>
            </a:r>
            <a:r>
              <a:rPr lang="en-US" dirty="0">
                <a:latin typeface="Times New Roman" panose="02020603050405020304" pitchFamily="18" charset="0"/>
                <a:cs typeface="Times New Roman" panose="02020603050405020304" pitchFamily="18" charset="0"/>
              </a:rPr>
              <a:t>for detecting sophisticated attacks that do not rely on traditional signatures.</a:t>
            </a:r>
          </a:p>
          <a:p>
            <a:pPr algn="just"/>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Heuristic-Based </a:t>
            </a:r>
            <a:r>
              <a:rPr lang="en-US" dirty="0">
                <a:latin typeface="Times New Roman" panose="02020603050405020304" pitchFamily="18" charset="0"/>
                <a:cs typeface="Times New Roman" panose="02020603050405020304" pitchFamily="18" charset="0"/>
              </a:rPr>
              <a:t>Detection: Heuristic detection involves the use of algorithms to identify suspicious behavior by evaluating the context and behavior of files and processes. It can detect variants of known threats but may not be as effective against entirely new attack vectors.</a:t>
            </a:r>
          </a:p>
          <a:p>
            <a:pPr marL="0" indent="0" algn="just">
              <a:buNone/>
            </a:pP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Anomaly-Based </a:t>
            </a:r>
            <a:r>
              <a:rPr lang="en-US" dirty="0">
                <a:latin typeface="Times New Roman" panose="02020603050405020304" pitchFamily="18" charset="0"/>
                <a:cs typeface="Times New Roman" panose="02020603050405020304" pitchFamily="18" charset="0"/>
              </a:rPr>
              <a:t>Detection: Anomaly-based detection systems establish a baseline of normal behavior and monitor deviations from this baseline to identify potential threats. This method is effective in detecting novel attacks but can generate high false-positive rates if the normal behavior is not well defined</a:t>
            </a:r>
            <a:r>
              <a:rPr lang="en-US" dirty="0" smtClean="0"/>
              <a:t>.</a:t>
            </a:r>
          </a:p>
          <a:p>
            <a:endParaRPr lang="en-IN" dirty="0"/>
          </a:p>
        </p:txBody>
      </p:sp>
    </p:spTree>
    <p:extLst>
      <p:ext uri="{BB962C8B-B14F-4D97-AF65-F5344CB8AC3E}">
        <p14:creationId xmlns:p14="http://schemas.microsoft.com/office/powerpoint/2010/main" val="345423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Existing Method</a:t>
            </a:r>
            <a:endParaRPr lang="en-IN"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Limited to Known Threats</a:t>
            </a:r>
            <a:r>
              <a:rPr lang="en-US" dirty="0">
                <a:latin typeface="Times New Roman" panose="02020603050405020304" pitchFamily="18" charset="0"/>
                <a:cs typeface="Times New Roman" panose="02020603050405020304" pitchFamily="18" charset="0"/>
              </a:rPr>
              <a:t>: This method can only detect threats that have been previously identified and cataloged. New, unknown threats (zero-day attacks) go undetected</a:t>
            </a:r>
            <a:r>
              <a:rPr lang="en-US" dirty="0" smtClean="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Difficult to Define Normal Behavior</a:t>
            </a:r>
            <a:r>
              <a:rPr lang="en-US" dirty="0">
                <a:latin typeface="Times New Roman" panose="02020603050405020304" pitchFamily="18" charset="0"/>
                <a:cs typeface="Times New Roman" panose="02020603050405020304" pitchFamily="18" charset="0"/>
              </a:rPr>
              <a:t>: In dynamic environments where behavior patterns frequently change, defining what constitutes normal behavior can be difficult</a:t>
            </a:r>
            <a:r>
              <a:rPr lang="en-US" dirty="0" smtClean="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Difficult to Define Normal Behavior</a:t>
            </a:r>
            <a:r>
              <a:rPr lang="en-US" dirty="0">
                <a:latin typeface="Times New Roman" panose="02020603050405020304" pitchFamily="18" charset="0"/>
                <a:cs typeface="Times New Roman" panose="02020603050405020304" pitchFamily="18" charset="0"/>
              </a:rPr>
              <a:t>: In dynamic environments where behavior patterns frequently change, defining what constitutes normal behavior can be difficult</a:t>
            </a:r>
            <a:r>
              <a:rPr lang="en-US" dirty="0" smtClean="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Complex to Implement</a:t>
            </a:r>
            <a:r>
              <a:rPr lang="en-US" dirty="0">
                <a:latin typeface="Times New Roman" panose="02020603050405020304" pitchFamily="18" charset="0"/>
                <a:cs typeface="Times New Roman" panose="02020603050405020304" pitchFamily="18" charset="0"/>
              </a:rPr>
              <a:t>: Developing accurate behavioral models requires significant effort and expertise.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070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Method</a:t>
            </a:r>
            <a:endParaRPr lang="en-IN" dirty="0"/>
          </a:p>
        </p:txBody>
      </p:sp>
      <p:sp>
        <p:nvSpPr>
          <p:cNvPr id="3" name="Content Placeholder 2"/>
          <p:cNvSpPr>
            <a:spLocks noGrp="1"/>
          </p:cNvSpPr>
          <p:nvPr>
            <p:ph idx="1"/>
          </p:nvPr>
        </p:nvSpPr>
        <p:spPr/>
        <p:txBody>
          <a:bodyPr/>
          <a:lstStyle/>
          <a:p>
            <a:r>
              <a:rPr lang="en-US" dirty="0" smtClean="0"/>
              <a:t>Random forest</a:t>
            </a:r>
          </a:p>
          <a:p>
            <a:r>
              <a:rPr lang="en-US" dirty="0" smtClean="0"/>
              <a:t>MLP</a:t>
            </a:r>
            <a:endParaRPr lang="en-IN" dirty="0"/>
          </a:p>
        </p:txBody>
      </p:sp>
    </p:spTree>
    <p:extLst>
      <p:ext uri="{BB962C8B-B14F-4D97-AF65-F5344CB8AC3E}">
        <p14:creationId xmlns:p14="http://schemas.microsoft.com/office/powerpoint/2010/main" val="3722364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Proposed Method</a:t>
            </a:r>
            <a:endParaRPr lang="en-IN" dirty="0"/>
          </a:p>
        </p:txBody>
      </p:sp>
      <p:sp>
        <p:nvSpPr>
          <p:cNvPr id="3" name="Content Placeholder 2"/>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High Accuracy in </a:t>
            </a:r>
            <a:r>
              <a:rPr lang="en-IN" dirty="0" smtClean="0">
                <a:latin typeface="Times New Roman" panose="02020603050405020304" pitchFamily="18" charset="0"/>
                <a:cs typeface="Times New Roman" panose="02020603050405020304" pitchFamily="18" charset="0"/>
              </a:rPr>
              <a:t>Detection</a:t>
            </a:r>
          </a:p>
          <a:p>
            <a:r>
              <a:rPr lang="en-IN" dirty="0">
                <a:latin typeface="Times New Roman" panose="02020603050405020304" pitchFamily="18" charset="0"/>
                <a:cs typeface="Times New Roman" panose="02020603050405020304" pitchFamily="18" charset="0"/>
              </a:rPr>
              <a:t>Robustness Against </a:t>
            </a:r>
            <a:r>
              <a:rPr lang="en-IN" dirty="0" err="1" smtClean="0">
                <a:latin typeface="Times New Roman" panose="02020603050405020304" pitchFamily="18" charset="0"/>
                <a:cs typeface="Times New Roman" panose="02020603050405020304" pitchFamily="18" charset="0"/>
              </a:rPr>
              <a:t>Overfitting</a:t>
            </a:r>
            <a:endParaRPr lang="en-IN"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Versatility in Handling Different Data </a:t>
            </a:r>
            <a:r>
              <a:rPr lang="en-US" dirty="0" smtClean="0">
                <a:latin typeface="Times New Roman" panose="02020603050405020304" pitchFamily="18" charset="0"/>
                <a:cs typeface="Times New Roman" panose="02020603050405020304" pitchFamily="18" charset="0"/>
              </a:rPr>
              <a:t>Types</a:t>
            </a:r>
          </a:p>
          <a:p>
            <a:r>
              <a:rPr lang="en-IN" dirty="0">
                <a:latin typeface="Times New Roman" panose="02020603050405020304" pitchFamily="18" charset="0"/>
                <a:cs typeface="Times New Roman" panose="02020603050405020304" pitchFamily="18" charset="0"/>
              </a:rPr>
              <a:t>Adaptability and Continuous </a:t>
            </a:r>
            <a:r>
              <a:rPr lang="en-IN" dirty="0" smtClean="0">
                <a:latin typeface="Times New Roman" panose="02020603050405020304" pitchFamily="18" charset="0"/>
                <a:cs typeface="Times New Roman" panose="02020603050405020304" pitchFamily="18" charset="0"/>
              </a:rPr>
              <a:t>Learning</a:t>
            </a:r>
          </a:p>
          <a:p>
            <a:r>
              <a:rPr lang="en-IN" dirty="0">
                <a:latin typeface="Times New Roman" panose="02020603050405020304" pitchFamily="18" charset="0"/>
                <a:cs typeface="Times New Roman" panose="02020603050405020304" pitchFamily="18" charset="0"/>
              </a:rPr>
              <a:t>Feature Importance and Interpretability</a:t>
            </a:r>
          </a:p>
        </p:txBody>
      </p:sp>
    </p:spTree>
    <p:extLst>
      <p:ext uri="{BB962C8B-B14F-4D97-AF65-F5344CB8AC3E}">
        <p14:creationId xmlns:p14="http://schemas.microsoft.com/office/powerpoint/2010/main" val="1762184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 Interface</a:t>
            </a:r>
            <a:endParaRPr lang="en-IN" dirty="0"/>
          </a:p>
        </p:txBody>
      </p:sp>
      <p:pic>
        <p:nvPicPr>
          <p:cNvPr id="4" name="Content Placeholder 3"/>
          <p:cNvPicPr>
            <a:picLocks noGrp="1" noChangeAspect="1"/>
          </p:cNvPicPr>
          <p:nvPr>
            <p:ph idx="1"/>
          </p:nvPr>
        </p:nvPicPr>
        <p:blipFill>
          <a:blip r:embed="rId2"/>
          <a:stretch>
            <a:fillRect/>
          </a:stretch>
        </p:blipFill>
        <p:spPr>
          <a:xfrm>
            <a:off x="1524168" y="2034862"/>
            <a:ext cx="6903701" cy="4007163"/>
          </a:xfrm>
          <a:prstGeom prst="rect">
            <a:avLst/>
          </a:prstGeom>
        </p:spPr>
      </p:pic>
    </p:spTree>
    <p:extLst>
      <p:ext uri="{BB962C8B-B14F-4D97-AF65-F5344CB8AC3E}">
        <p14:creationId xmlns:p14="http://schemas.microsoft.com/office/powerpoint/2010/main" val="1291787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 Dataset</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253014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Preprocessing</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3846761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Autoencoder</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2939235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forest</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1867780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MLP</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2677910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Threat Detection</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1276531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Algorithms Graph</a:t>
            </a:r>
            <a:endParaRPr lang="en-IN" dirty="0"/>
          </a:p>
        </p:txBody>
      </p:sp>
      <p:pic>
        <p:nvPicPr>
          <p:cNvPr id="4" name="Content Placeholder 3"/>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2708712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IN" dirty="0"/>
          </a:p>
        </p:txBody>
      </p:sp>
      <p:sp>
        <p:nvSpPr>
          <p:cNvPr id="3" name="Content Placeholder 2"/>
          <p:cNvSpPr>
            <a:spLocks noGrp="1"/>
          </p:cNvSpPr>
          <p:nvPr>
            <p:ph idx="1"/>
          </p:nvPr>
        </p:nvSpPr>
        <p:spPr>
          <a:xfrm>
            <a:off x="677334" y="1661375"/>
            <a:ext cx="8596668" cy="4379987"/>
          </a:xfrm>
        </p:spPr>
        <p:txBody>
          <a:bodyPr/>
          <a:lstStyle/>
          <a:p>
            <a:r>
              <a:rPr lang="en-US" dirty="0">
                <a:latin typeface="Times New Roman" panose="02020603050405020304" pitchFamily="18" charset="0"/>
                <a:cs typeface="Times New Roman" panose="02020603050405020304" pitchFamily="18" charset="0"/>
              </a:rPr>
              <a:t>In summary, the integration of Random Forest (RF) and Multi-Layer Perceptron (MLP) algorithms </a:t>
            </a:r>
            <a:r>
              <a:rPr lang="en-US" dirty="0" smtClean="0">
                <a:latin typeface="Times New Roman" panose="02020603050405020304" pitchFamily="18" charset="0"/>
                <a:cs typeface="Times New Roman" panose="02020603050405020304" pitchFamily="18" charset="0"/>
              </a:rPr>
              <a:t>are proposed algorithms to detect threat. </a:t>
            </a:r>
            <a:r>
              <a:rPr lang="en-US" dirty="0">
                <a:latin typeface="Times New Roman" panose="02020603050405020304" pitchFamily="18" charset="0"/>
                <a:cs typeface="Times New Roman" panose="02020603050405020304" pitchFamily="18" charset="0"/>
              </a:rPr>
              <a:t>This approach enhances detection accuracy, adapts to diverse data types, and fosters robust defense mechanisms against evolving cyber threats. By leveraging RF's ensemble learning for stability and MLP's deep learning for intricate pattern recognition, Cyber-Guard not only detects but also proactively mitigates potential </a:t>
            </a:r>
            <a:r>
              <a:rPr lang="en-US" dirty="0" smtClean="0">
                <a:latin typeface="Times New Roman" panose="02020603050405020304" pitchFamily="18" charset="0"/>
                <a:cs typeface="Times New Roman" panose="02020603050405020304" pitchFamily="18" charset="0"/>
              </a:rPr>
              <a:t>breaches.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517732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37</TotalTime>
  <Words>630</Words>
  <Application>Microsoft Office PowerPoint</Application>
  <PresentationFormat>Widescreen</PresentationFormat>
  <Paragraphs>37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Times New Roman</vt:lpstr>
      <vt:lpstr>Trebuchet MS</vt:lpstr>
      <vt:lpstr>Wingdings 3</vt:lpstr>
      <vt:lpstr>Facet</vt:lpstr>
      <vt:lpstr>PowerPoint Presentation</vt:lpstr>
      <vt:lpstr>Abstract</vt:lpstr>
      <vt:lpstr>Introduction</vt:lpstr>
      <vt:lpstr>Existed Method</vt:lpstr>
      <vt:lpstr>Disadvantages Of Existing Method</vt:lpstr>
      <vt:lpstr>Proposed Method</vt:lpstr>
      <vt:lpstr>Advantages of Proposed Method</vt:lpstr>
      <vt:lpstr>Results : Interface</vt:lpstr>
      <vt:lpstr>Upload Dataset</vt:lpstr>
      <vt:lpstr>Data Preprocessing</vt:lpstr>
      <vt:lpstr>Autoencoder</vt:lpstr>
      <vt:lpstr>Random forest</vt:lpstr>
      <vt:lpstr>MLP</vt:lpstr>
      <vt:lpstr>Threat Detection</vt:lpstr>
      <vt:lpstr>Algorithms Graph</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5</cp:revision>
  <dcterms:created xsi:type="dcterms:W3CDTF">2024-06-13T21:38:23Z</dcterms:created>
  <dcterms:modified xsi:type="dcterms:W3CDTF">2024-06-13T22:16:04Z</dcterms:modified>
</cp:coreProperties>
</file>